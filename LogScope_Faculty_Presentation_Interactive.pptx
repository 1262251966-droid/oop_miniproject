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69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LogScope: a local-first tool that triages Apache and Nginx access logs and surfaces suspicious patterns with evidence. Theme: Cybersecurity. Category: Software. Fill in team / presenter details before presenting. The log lines in the terminal card are an illustrative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menu: click any card to jump to that section. The tabs at the top work on every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right: parse, group by IP, run detectors, produce an evidence report. Then the three cards: what it does, how it helps, what is distinctive. Emphasise that a finding is a pattern to investigate, not confirmed compromise.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dashboard uploads a log to the local Python API, which validates it and picks an engine: the C++14 analyzer, or the Python analyzer as a compatibility fallback. Both return a JSON report with findings and per-IP timelines. Click the button to see the core C++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AttackDetector interface. AnomalyEngine runs every concrete detector through it, so new detectors plug in without touching the engine. Right: a moving-window scan over a source IP's 401 timestamps. The left pointer advances while the window is too wide, tracking the densest burst; if it meets the threshold, a Brute Force Activity finding is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everything needed already exists in the project. Right: each known risk is paired with a concrete response. Be upfront about the scope limit: standard access logs have no destination-port data, so port-scan detection is unsupported.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audience first, then three benefits. Note the honest framing at the bottom: no measured time savings or detection accuracy is claimed. The faculty review focus box invites feedback on thresholds, log-format coverage and false-positive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 are the actual files in the repository. External references cover the log formats, HTTP semantics, attack classes behind the detectors, log-management guidance and the language/tooling used. All links are clickable in slideshow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8.xml"/><Relationship Id="rId1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slide" Target="slide3.xml"/><Relationship Id="rId12" Type="http://schemas.openxmlformats.org/officeDocument/2006/relationships/slide" Target="slide7.xml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6.xml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10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4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8.xml"/><Relationship Id="rId3" Type="http://schemas.openxmlformats.org/officeDocument/2006/relationships/image" Target="../media/image3.png"/><Relationship Id="rId7" Type="http://schemas.openxmlformats.org/officeDocument/2006/relationships/slide" Target="slide4.xml"/><Relationship Id="rId12" Type="http://schemas.openxmlformats.org/officeDocument/2006/relationships/slide" Target="slide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6.xml"/><Relationship Id="rId5" Type="http://schemas.openxmlformats.org/officeDocument/2006/relationships/image" Target="../media/image2.png"/><Relationship Id="rId15" Type="http://schemas.openxmlformats.org/officeDocument/2006/relationships/image" Target="../media/image11.png"/><Relationship Id="rId10" Type="http://schemas.openxmlformats.org/officeDocument/2006/relationships/slide" Target="slide5.xml"/><Relationship Id="rId4" Type="http://schemas.openxmlformats.org/officeDocument/2006/relationships/slide" Target="slide2.xml"/><Relationship Id="rId9" Type="http://schemas.openxmlformats.org/officeDocument/2006/relationships/slide" Target="slide3.xml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8.xml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slide" Target="slide5.xml"/><Relationship Id="rId12" Type="http://schemas.openxmlformats.org/officeDocument/2006/relationships/slide" Target="slide7.xml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6.xml"/><Relationship Id="rId5" Type="http://schemas.openxmlformats.org/officeDocument/2006/relationships/image" Target="../media/image2.png"/><Relationship Id="rId15" Type="http://schemas.openxmlformats.org/officeDocument/2006/relationships/image" Target="../media/image14.png"/><Relationship Id="rId10" Type="http://schemas.openxmlformats.org/officeDocument/2006/relationships/slide" Target="slide4.xml"/><Relationship Id="rId19" Type="http://schemas.openxmlformats.org/officeDocument/2006/relationships/image" Target="../media/image1.png"/><Relationship Id="rId4" Type="http://schemas.openxmlformats.org/officeDocument/2006/relationships/slide" Target="slide3.xml"/><Relationship Id="rId9" Type="http://schemas.openxmlformats.org/officeDocument/2006/relationships/slide" Target="slide2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8.xml"/><Relationship Id="rId3" Type="http://schemas.openxmlformats.org/officeDocument/2006/relationships/image" Target="../media/image3.png"/><Relationship Id="rId7" Type="http://schemas.openxmlformats.org/officeDocument/2006/relationships/slide" Target="slide6.xml"/><Relationship Id="rId12" Type="http://schemas.openxmlformats.org/officeDocument/2006/relationships/slide" Target="slide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5.xml"/><Relationship Id="rId5" Type="http://schemas.openxmlformats.org/officeDocument/2006/relationships/image" Target="../media/image2.png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2.xml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8.xml"/><Relationship Id="rId3" Type="http://schemas.openxmlformats.org/officeDocument/2006/relationships/image" Target="../media/image3.png"/><Relationship Id="rId7" Type="http://schemas.openxmlformats.org/officeDocument/2006/relationships/slide" Target="slide7.xml"/><Relationship Id="rId12" Type="http://schemas.openxmlformats.org/officeDocument/2006/relationships/slide" Target="slide6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4.xml"/><Relationship Id="rId5" Type="http://schemas.openxmlformats.org/officeDocument/2006/relationships/image" Target="../media/image2.png"/><Relationship Id="rId15" Type="http://schemas.openxmlformats.org/officeDocument/2006/relationships/image" Target="../media/image19.png"/><Relationship Id="rId10" Type="http://schemas.openxmlformats.org/officeDocument/2006/relationships/slide" Target="slide3.xml"/><Relationship Id="rId4" Type="http://schemas.openxmlformats.org/officeDocument/2006/relationships/slide" Target="slide5.xml"/><Relationship Id="rId9" Type="http://schemas.openxmlformats.org/officeDocument/2006/relationships/slide" Target="slide2.xml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7.xml"/><Relationship Id="rId3" Type="http://schemas.openxmlformats.org/officeDocument/2006/relationships/image" Target="../media/image3.png"/><Relationship Id="rId7" Type="http://schemas.openxmlformats.org/officeDocument/2006/relationships/slide" Target="slide8.xml"/><Relationship Id="rId12" Type="http://schemas.openxmlformats.org/officeDocument/2006/relationships/slide" Target="slide5.xml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4.xml"/><Relationship Id="rId5" Type="http://schemas.openxmlformats.org/officeDocument/2006/relationships/image" Target="../media/image2.png"/><Relationship Id="rId15" Type="http://schemas.openxmlformats.org/officeDocument/2006/relationships/image" Target="../media/image22.png"/><Relationship Id="rId10" Type="http://schemas.openxmlformats.org/officeDocument/2006/relationships/slide" Target="slide3.xml"/><Relationship Id="rId4" Type="http://schemas.openxmlformats.org/officeDocument/2006/relationships/slide" Target="slide6.xml"/><Relationship Id="rId9" Type="http://schemas.openxmlformats.org/officeDocument/2006/relationships/slide" Target="slide2.xml"/><Relationship Id="rId1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6.xml"/><Relationship Id="rId18" Type="http://schemas.openxmlformats.org/officeDocument/2006/relationships/hyperlink" Target="https://www.rfc-editor.org/rfc/rfc9110.html" TargetMode="External"/><Relationship Id="rId26" Type="http://schemas.openxmlformats.org/officeDocument/2006/relationships/hyperlink" Target="https://cwe.mitre.org/data/definitions/89.html" TargetMode="Externa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slide" Target="slide8.xml"/><Relationship Id="rId12" Type="http://schemas.openxmlformats.org/officeDocument/2006/relationships/slide" Target="slide5.xml"/><Relationship Id="rId17" Type="http://schemas.openxmlformats.org/officeDocument/2006/relationships/hyperlink" Target="https://nginx.org/en/docs/http/ngx_http_log_module.html" TargetMode="External"/><Relationship Id="rId25" Type="http://schemas.openxmlformats.org/officeDocument/2006/relationships/hyperlink" Target="https://attack.mitre.org/techniques/T1110/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httpd.apache.org/docs/current/logs.html" TargetMode="External"/><Relationship Id="rId20" Type="http://schemas.openxmlformats.org/officeDocument/2006/relationships/hyperlink" Target="https://docs.python.org/3/library/http.server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slide" Target="slide4.xml"/><Relationship Id="rId24" Type="http://schemas.openxmlformats.org/officeDocument/2006/relationships/hyperlink" Target="https://csrc.nist.gov/pubs/sp/800/92/final" TargetMode="External"/><Relationship Id="rId5" Type="http://schemas.openxmlformats.org/officeDocument/2006/relationships/image" Target="../media/image2.png"/><Relationship Id="rId15" Type="http://schemas.openxmlformats.org/officeDocument/2006/relationships/image" Target="../media/image16.png"/><Relationship Id="rId23" Type="http://schemas.openxmlformats.org/officeDocument/2006/relationships/hyperlink" Target="https://cheatsheetseries.owasp.org/cheatsheets/Logging_Cheat_Sheet.html" TargetMode="External"/><Relationship Id="rId10" Type="http://schemas.openxmlformats.org/officeDocument/2006/relationships/slide" Target="slide3.xml"/><Relationship Id="rId19" Type="http://schemas.openxmlformats.org/officeDocument/2006/relationships/hyperlink" Target="https://en.cppreference.com/w/cpp/14" TargetMode="External"/><Relationship Id="rId4" Type="http://schemas.openxmlformats.org/officeDocument/2006/relationships/slide" Target="slide7.xml"/><Relationship Id="rId9" Type="http://schemas.openxmlformats.org/officeDocument/2006/relationships/slide" Target="slide2.xml"/><Relationship Id="rId14" Type="http://schemas.openxmlformats.org/officeDocument/2006/relationships/image" Target="../media/image24.png"/><Relationship Id="rId22" Type="http://schemas.openxmlformats.org/officeDocument/2006/relationships/hyperlink" Target="https://top10.owasp.org/A09_2021-Security_Logging_and_Monitoring_Failures/" TargetMode="External"/><Relationship Id="rId27" Type="http://schemas.openxmlformats.org/officeDocument/2006/relationships/hyperlink" Target="https://cwe.mitre.org/data/definitions/22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011680"/>
            <a:ext cx="6858000" cy="6858000"/>
          </a:xfrm>
          <a:prstGeom prst="ellipse">
            <a:avLst/>
          </a:prstGeom>
          <a:solidFill>
            <a:srgbClr val="2DD4BF">
              <a:alpha val="7000"/>
            </a:srgbClr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·  FACULTY REVIEW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LogScope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Access-log anomaly detection: local-first triage for Apache and Nginx logs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 </a:t>
            </a: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63240" y="41148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0632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 </a:t>
            </a: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800600"/>
            <a:ext cx="4892040" cy="548640"/>
          </a:xfrm>
          <a:prstGeom prst="roundRect">
            <a:avLst>
              <a:gd name="adj" fmla="val 50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99160" y="4800600"/>
            <a:ext cx="454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presenter : Abhinav Chavan</a:t>
            </a:r>
            <a:b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Declan Keith Po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</a:t>
            </a:r>
            <a:r>
              <a:rPr lang="en-US" sz="1200" dirty="0" err="1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Krishnanunni</a:t>
            </a: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Kurup</a:t>
            </a:r>
            <a:endParaRPr lang="en-US" sz="1200" dirty="0"/>
          </a:p>
        </p:txBody>
      </p:sp>
      <p:sp>
        <p:nvSpPr>
          <p:cNvPr id="14" name="Start button"/>
          <p:cNvSpPr/>
          <p:nvPr/>
        </p:nvSpPr>
        <p:spPr>
          <a:xfrm>
            <a:off x="548640" y="566928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585216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880360" y="5669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tab, card or arrow to navigate</a:t>
            </a:r>
            <a:endParaRPr lang="en-US" sz="1200" dirty="0"/>
          </a:p>
        </p:txBody>
      </p:sp>
      <p:pic>
        <p:nvPicPr>
          <p:cNvPr id="18" name="Image 2" descr="Start the presentation">
            <a:hlinkClick r:id="rId4" action="ppaction://hlinksldjump" tooltip="Start the presenta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69280"/>
            <a:ext cx="2103120" cy="566928"/>
          </a:xfrm>
          <a:prstGeom prst="rect">
            <a:avLst/>
          </a:prstGeom>
        </p:spPr>
      </p:pic>
      <p:sp>
        <p:nvSpPr>
          <p:cNvPr id="19" name="Terminal card"/>
          <p:cNvSpPr/>
          <p:nvPr/>
        </p:nvSpPr>
        <p:spPr>
          <a:xfrm>
            <a:off x="6812280" y="1234440"/>
            <a:ext cx="4846320" cy="4754880"/>
          </a:xfrm>
          <a:prstGeom prst="roundRect">
            <a:avLst>
              <a:gd name="adj" fmla="val 2308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040880" y="1444752"/>
            <a:ext cx="155448" cy="1554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296912" y="1444752"/>
            <a:ext cx="155448" cy="1554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552944" y="1444752"/>
            <a:ext cx="155448" cy="15544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82296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access.log  (illustrative sample)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7040880" y="182880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198.51.100.2 GET /index.html 200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198.51.100.2 GET /about 200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203.0.113.7  POST /login 401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203.0.113.7  POST /login 401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203.0.113.7  POST /login 401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192.0.2.15   GET /?id=1 OR 1=1 200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192.0.2.15   GET /../../etc/passwd 403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198.51.100.9 GET /css/app.css 200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040880" y="4617720"/>
            <a:ext cx="4389120" cy="530352"/>
          </a:xfrm>
          <a:prstGeom prst="roundRect">
            <a:avLst>
              <a:gd name="adj" fmla="val 17241"/>
            </a:avLst>
          </a:prstGeom>
          <a:solidFill>
            <a:srgbClr val="1B274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7178040" y="461772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 </a:t>
            </a: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401s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040880" y="5257800"/>
            <a:ext cx="4389120" cy="530352"/>
          </a:xfrm>
          <a:prstGeom prst="roundRect">
            <a:avLst>
              <a:gd name="adj" fmla="val 17241"/>
            </a:avLst>
          </a:prstGeom>
          <a:solidFill>
            <a:srgbClr val="1B2742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7178040" y="52578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 </a:t>
            </a: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traversal indicators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access logs into evidence-backed leads to investigate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4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8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7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9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10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11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12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13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Hub card 01"/>
          <p:cNvSpPr/>
          <p:nvPr/>
        </p:nvSpPr>
        <p:spPr>
          <a:xfrm>
            <a:off x="457200" y="21488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4"/>
          <p:cNvSpPr txBox="1"/>
          <p:nvPr/>
        </p:nvSpPr>
        <p:spPr>
          <a:xfrm>
            <a:off x="6858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1" name="Shape 25"/>
          <p:cNvSpPr/>
          <p:nvPr/>
        </p:nvSpPr>
        <p:spPr>
          <a:xfrm>
            <a:off x="685800" y="3017520"/>
            <a:ext cx="777240" cy="7772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27" y="3235147"/>
            <a:ext cx="341986" cy="341986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685800" y="3931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900" dirty="0"/>
          </a:p>
        </p:txBody>
      </p:sp>
      <p:sp>
        <p:nvSpPr>
          <p:cNvPr id="44" name="Text 27"/>
          <p:cNvSpPr txBox="1"/>
          <p:nvPr/>
        </p:nvSpPr>
        <p:spPr>
          <a:xfrm>
            <a:off x="685800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and what makes it distinctive</a:t>
            </a:r>
            <a:endParaRPr lang="en-US" sz="1400" dirty="0"/>
          </a:p>
        </p:txBody>
      </p:sp>
      <p:pic>
        <p:nvPicPr>
          <p:cNvPr id="45" name="Image 14" descr="Jump to Proposed Solution">
            <a:hlinkClick r:id="rId7" action="ppaction://hlinksldjump" tooltip="Jump to Proposed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48840"/>
            <a:ext cx="2103120" cy="3566160"/>
          </a:xfrm>
          <a:prstGeom prst="rect">
            <a:avLst/>
          </a:prstGeom>
        </p:spPr>
      </p:pic>
      <p:sp>
        <p:nvSpPr>
          <p:cNvPr id="46" name="Hub card 02"/>
          <p:cNvSpPr/>
          <p:nvPr/>
        </p:nvSpPr>
        <p:spPr>
          <a:xfrm>
            <a:off x="2743200" y="21488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9"/>
          <p:cNvSpPr txBox="1"/>
          <p:nvPr/>
        </p:nvSpPr>
        <p:spPr>
          <a:xfrm>
            <a:off x="29718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8" name="Shape 30"/>
          <p:cNvSpPr/>
          <p:nvPr/>
        </p:nvSpPr>
        <p:spPr>
          <a:xfrm>
            <a:off x="2971800" y="3017520"/>
            <a:ext cx="777240" cy="7772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9427" y="3235147"/>
            <a:ext cx="341986" cy="341986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2971800" y="3931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1900" dirty="0"/>
          </a:p>
        </p:txBody>
      </p:sp>
      <p:sp>
        <p:nvSpPr>
          <p:cNvPr id="51" name="Text 32"/>
          <p:cNvSpPr txBox="1"/>
          <p:nvPr/>
        </p:nvSpPr>
        <p:spPr>
          <a:xfrm>
            <a:off x="2971800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the core C++ code</a:t>
            </a:r>
            <a:endParaRPr lang="en-US" sz="1400" dirty="0"/>
          </a:p>
        </p:txBody>
      </p:sp>
      <p:pic>
        <p:nvPicPr>
          <p:cNvPr id="52" name="Image 16" descr="Jump to Technical Approach">
            <a:hlinkClick r:id="rId9" action="ppaction://hlinksldjump" tooltip="Jump to Technical Approach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148840"/>
            <a:ext cx="2103120" cy="3566160"/>
          </a:xfrm>
          <a:prstGeom prst="rect">
            <a:avLst/>
          </a:prstGeom>
        </p:spPr>
      </p:pic>
      <p:sp>
        <p:nvSpPr>
          <p:cNvPr id="53" name="Hub card 03"/>
          <p:cNvSpPr/>
          <p:nvPr/>
        </p:nvSpPr>
        <p:spPr>
          <a:xfrm>
            <a:off x="5029200" y="21488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4"/>
          <p:cNvSpPr txBox="1"/>
          <p:nvPr/>
        </p:nvSpPr>
        <p:spPr>
          <a:xfrm>
            <a:off x="52578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55" name="Shape 35"/>
          <p:cNvSpPr/>
          <p:nvPr/>
        </p:nvSpPr>
        <p:spPr>
          <a:xfrm>
            <a:off x="5257800" y="3017520"/>
            <a:ext cx="777240" cy="7772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5427" y="3235147"/>
            <a:ext cx="341986" cy="341986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5257800" y="3931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1900" dirty="0"/>
          </a:p>
        </p:txBody>
      </p:sp>
      <p:sp>
        <p:nvSpPr>
          <p:cNvPr id="58" name="Text 37"/>
          <p:cNvSpPr txBox="1"/>
          <p:nvPr/>
        </p:nvSpPr>
        <p:spPr>
          <a:xfrm>
            <a:off x="5257800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readiness, risks and responses</a:t>
            </a:r>
            <a:endParaRPr lang="en-US" sz="1400" dirty="0"/>
          </a:p>
        </p:txBody>
      </p:sp>
      <p:pic>
        <p:nvPicPr>
          <p:cNvPr id="59" name="Image 18" descr="Jump to Feasibility and Viability">
            <a:hlinkClick r:id="rId11" action="ppaction://hlinksldjump" tooltip="Jump to Feasibility and Via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48840"/>
            <a:ext cx="2103120" cy="3566160"/>
          </a:xfrm>
          <a:prstGeom prst="rect">
            <a:avLst/>
          </a:prstGeom>
        </p:spPr>
      </p:pic>
      <p:sp>
        <p:nvSpPr>
          <p:cNvPr id="60" name="Hub card 04"/>
          <p:cNvSpPr/>
          <p:nvPr/>
        </p:nvSpPr>
        <p:spPr>
          <a:xfrm>
            <a:off x="7315200" y="21488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39"/>
          <p:cNvSpPr txBox="1"/>
          <p:nvPr/>
        </p:nvSpPr>
        <p:spPr>
          <a:xfrm>
            <a:off x="75438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62" name="Shape 40"/>
          <p:cNvSpPr/>
          <p:nvPr/>
        </p:nvSpPr>
        <p:spPr>
          <a:xfrm>
            <a:off x="7543800" y="3017520"/>
            <a:ext cx="777240" cy="7772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61427" y="3235147"/>
            <a:ext cx="341986" cy="341986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7543800" y="3931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1900" dirty="0"/>
          </a:p>
        </p:txBody>
      </p:sp>
      <p:sp>
        <p:nvSpPr>
          <p:cNvPr id="65" name="Text 42"/>
          <p:cNvSpPr txBox="1"/>
          <p:nvPr/>
        </p:nvSpPr>
        <p:spPr>
          <a:xfrm>
            <a:off x="7543800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helps and how</a:t>
            </a:r>
            <a:endParaRPr lang="en-US" sz="1400" dirty="0"/>
          </a:p>
        </p:txBody>
      </p:sp>
      <p:pic>
        <p:nvPicPr>
          <p:cNvPr id="66" name="Image 20" descr="Jump to Impact and Benefits">
            <a:hlinkClick r:id="rId12" action="ppaction://hlinksldjump" tooltip="Jump to Impact and Benefit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148840"/>
            <a:ext cx="2103120" cy="3566160"/>
          </a:xfrm>
          <a:prstGeom prst="rect">
            <a:avLst/>
          </a:prstGeom>
        </p:spPr>
      </p:pic>
      <p:sp>
        <p:nvSpPr>
          <p:cNvPr id="67" name="Hub card 05"/>
          <p:cNvSpPr/>
          <p:nvPr/>
        </p:nvSpPr>
        <p:spPr>
          <a:xfrm>
            <a:off x="9601200" y="214884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44"/>
          <p:cNvSpPr txBox="1"/>
          <p:nvPr/>
        </p:nvSpPr>
        <p:spPr>
          <a:xfrm>
            <a:off x="98298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69" name="Shape 45"/>
          <p:cNvSpPr/>
          <p:nvPr/>
        </p:nvSpPr>
        <p:spPr>
          <a:xfrm>
            <a:off x="9829800" y="3017520"/>
            <a:ext cx="777240" cy="7772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47427" y="3235147"/>
            <a:ext cx="341986" cy="341986"/>
          </a:xfrm>
          <a:prstGeom prst="rect">
            <a:avLst/>
          </a:prstGeom>
        </p:spPr>
      </p:pic>
      <p:sp>
        <p:nvSpPr>
          <p:cNvPr id="71" name="Text 46"/>
          <p:cNvSpPr txBox="1"/>
          <p:nvPr/>
        </p:nvSpPr>
        <p:spPr>
          <a:xfrm>
            <a:off x="9829800" y="3931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1900" dirty="0"/>
          </a:p>
        </p:txBody>
      </p:sp>
      <p:sp>
        <p:nvSpPr>
          <p:cNvPr id="72" name="Text 47"/>
          <p:cNvSpPr txBox="1"/>
          <p:nvPr/>
        </p:nvSpPr>
        <p:spPr>
          <a:xfrm>
            <a:off x="9829800" y="4709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 and external sources</a:t>
            </a:r>
            <a:endParaRPr lang="en-US" sz="1400" dirty="0"/>
          </a:p>
        </p:txBody>
      </p:sp>
      <p:pic>
        <p:nvPicPr>
          <p:cNvPr id="73" name="Image 22" descr="Jump to Research and References">
            <a:hlinkClick r:id="rId13" action="ppaction://hlinksldjump" tooltip="Jump to Research and Referen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148840"/>
            <a:ext cx="2103120" cy="3566160"/>
          </a:xfrm>
          <a:prstGeom prst="rect">
            <a:avLst/>
          </a:prstGeom>
        </p:spPr>
      </p:pic>
      <p:sp>
        <p:nvSpPr>
          <p:cNvPr id="74" name="Text 48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card to jump straight to that section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access-log triage for Apache and Nginx logs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8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4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9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7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10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11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12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13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Step 1"/>
          <p:cNvSpPr/>
          <p:nvPr/>
        </p:nvSpPr>
        <p:spPr>
          <a:xfrm>
            <a:off x="457200" y="201168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4"/>
          <p:cNvSpPr/>
          <p:nvPr/>
        </p:nvSpPr>
        <p:spPr>
          <a:xfrm>
            <a:off x="621792" y="219456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5"/>
          <p:cNvSpPr txBox="1"/>
          <p:nvPr/>
        </p:nvSpPr>
        <p:spPr>
          <a:xfrm>
            <a:off x="6217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26"/>
          <p:cNvSpPr txBox="1"/>
          <p:nvPr/>
        </p:nvSpPr>
        <p:spPr>
          <a:xfrm>
            <a:off x="118872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2000" dirty="0"/>
          </a:p>
        </p:txBody>
      </p:sp>
      <p:sp>
        <p:nvSpPr>
          <p:cNvPr id="43" name="Text 27"/>
          <p:cNvSpPr txBox="1"/>
          <p:nvPr/>
        </p:nvSpPr>
        <p:spPr>
          <a:xfrm>
            <a:off x="64008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Access-log entries</a:t>
            </a:r>
            <a:endParaRPr lang="en-US" sz="1200" dirty="0"/>
          </a:p>
        </p:txBody>
      </p:sp>
      <p:pic>
        <p:nvPicPr>
          <p:cNvPr id="44" name="Image 13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2441448"/>
            <a:ext cx="164592" cy="164592"/>
          </a:xfrm>
          <a:prstGeom prst="rect">
            <a:avLst/>
          </a:prstGeom>
        </p:spPr>
      </p:pic>
      <p:sp>
        <p:nvSpPr>
          <p:cNvPr id="45" name="Step 2"/>
          <p:cNvSpPr/>
          <p:nvPr/>
        </p:nvSpPr>
        <p:spPr>
          <a:xfrm>
            <a:off x="3319272" y="201168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29"/>
          <p:cNvSpPr/>
          <p:nvPr/>
        </p:nvSpPr>
        <p:spPr>
          <a:xfrm>
            <a:off x="3483864" y="219456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0"/>
          <p:cNvSpPr txBox="1"/>
          <p:nvPr/>
        </p:nvSpPr>
        <p:spPr>
          <a:xfrm>
            <a:off x="348386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31"/>
          <p:cNvSpPr txBox="1"/>
          <p:nvPr/>
        </p:nvSpPr>
        <p:spPr>
          <a:xfrm>
            <a:off x="4050792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2000" dirty="0"/>
          </a:p>
        </p:txBody>
      </p:sp>
      <p:sp>
        <p:nvSpPr>
          <p:cNvPr id="49" name="Text 32"/>
          <p:cNvSpPr txBox="1"/>
          <p:nvPr/>
        </p:nvSpPr>
        <p:spPr>
          <a:xfrm>
            <a:off x="350215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by source IP</a:t>
            </a:r>
            <a:endParaRPr lang="en-US" sz="1200" dirty="0"/>
          </a:p>
        </p:txBody>
      </p:sp>
      <p:pic>
        <p:nvPicPr>
          <p:cNvPr id="50" name="Image 14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2441448"/>
            <a:ext cx="164592" cy="164592"/>
          </a:xfrm>
          <a:prstGeom prst="rect">
            <a:avLst/>
          </a:prstGeom>
        </p:spPr>
      </p:pic>
      <p:sp>
        <p:nvSpPr>
          <p:cNvPr id="51" name="Step 3"/>
          <p:cNvSpPr/>
          <p:nvPr/>
        </p:nvSpPr>
        <p:spPr>
          <a:xfrm>
            <a:off x="6181344" y="201168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34"/>
          <p:cNvSpPr/>
          <p:nvPr/>
        </p:nvSpPr>
        <p:spPr>
          <a:xfrm>
            <a:off x="6345936" y="219456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5"/>
          <p:cNvSpPr txBox="1"/>
          <p:nvPr/>
        </p:nvSpPr>
        <p:spPr>
          <a:xfrm>
            <a:off x="634593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36"/>
          <p:cNvSpPr txBox="1"/>
          <p:nvPr/>
        </p:nvSpPr>
        <p:spPr>
          <a:xfrm>
            <a:off x="6912864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55" name="Text 37"/>
          <p:cNvSpPr txBox="1"/>
          <p:nvPr/>
        </p:nvSpPr>
        <p:spPr>
          <a:xfrm>
            <a:off x="6364224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strategies</a:t>
            </a:r>
            <a:endParaRPr lang="en-US" sz="1200" dirty="0"/>
          </a:p>
        </p:txBody>
      </p:sp>
      <p:pic>
        <p:nvPicPr>
          <p:cNvPr id="56" name="Image 15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2441448"/>
            <a:ext cx="164592" cy="164592"/>
          </a:xfrm>
          <a:prstGeom prst="rect">
            <a:avLst/>
          </a:prstGeom>
        </p:spPr>
      </p:pic>
      <p:sp>
        <p:nvSpPr>
          <p:cNvPr id="57" name="Step 4"/>
          <p:cNvSpPr/>
          <p:nvPr/>
        </p:nvSpPr>
        <p:spPr>
          <a:xfrm>
            <a:off x="9043416" y="2011680"/>
            <a:ext cx="2514600" cy="1097280"/>
          </a:xfrm>
          <a:prstGeom prst="roundRect">
            <a:avLst>
              <a:gd name="adj" fmla="val 10000"/>
            </a:avLst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39"/>
          <p:cNvSpPr/>
          <p:nvPr/>
        </p:nvSpPr>
        <p:spPr>
          <a:xfrm>
            <a:off x="9208008" y="219456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0"/>
          <p:cNvSpPr txBox="1"/>
          <p:nvPr/>
        </p:nvSpPr>
        <p:spPr>
          <a:xfrm>
            <a:off x="920800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41"/>
          <p:cNvSpPr txBox="1"/>
          <p:nvPr/>
        </p:nvSpPr>
        <p:spPr>
          <a:xfrm>
            <a:off x="9774936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61" name="Text 42"/>
          <p:cNvSpPr txBox="1"/>
          <p:nvPr/>
        </p:nvSpPr>
        <p:spPr>
          <a:xfrm>
            <a:off x="9226296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time range, evidence</a:t>
            </a:r>
            <a:endParaRPr lang="en-US" sz="1200" dirty="0"/>
          </a:p>
        </p:txBody>
      </p:sp>
      <p:sp>
        <p:nvSpPr>
          <p:cNvPr id="62" name="Card WHAT IT DOES"/>
          <p:cNvSpPr/>
          <p:nvPr/>
        </p:nvSpPr>
        <p:spPr>
          <a:xfrm>
            <a:off x="457200" y="329184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4"/>
          <p:cNvSpPr/>
          <p:nvPr/>
        </p:nvSpPr>
        <p:spPr>
          <a:xfrm>
            <a:off x="640080" y="3456432"/>
            <a:ext cx="502920" cy="50292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0898" y="3597250"/>
            <a:ext cx="221285" cy="221285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1280160" y="3456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66" name="Text 46"/>
          <p:cNvSpPr txBox="1"/>
          <p:nvPr/>
        </p:nvSpPr>
        <p:spPr>
          <a:xfrm>
            <a:off x="685800" y="41148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access-log entries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activity by source 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repeated 401s, traffic bursts, repeated 403/404 responses, SQL and traversal indicators</a:t>
            </a:r>
            <a:endParaRPr lang="en-US" sz="1400" dirty="0"/>
          </a:p>
        </p:txBody>
      </p:sp>
      <p:sp>
        <p:nvSpPr>
          <p:cNvPr id="67" name="Card HOW IT HELPS"/>
          <p:cNvSpPr/>
          <p:nvPr/>
        </p:nvSpPr>
        <p:spPr>
          <a:xfrm>
            <a:off x="4279392" y="329184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48"/>
          <p:cNvSpPr/>
          <p:nvPr/>
        </p:nvSpPr>
        <p:spPr>
          <a:xfrm>
            <a:off x="4462272" y="3456432"/>
            <a:ext cx="502920" cy="50292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3090" y="3597250"/>
            <a:ext cx="221285" cy="221285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5102352" y="3456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</a:t>
            </a:r>
            <a:endParaRPr lang="en-US" sz="1500" dirty="0"/>
          </a:p>
        </p:txBody>
      </p:sp>
      <p:sp>
        <p:nvSpPr>
          <p:cNvPr id="71" name="Text 50"/>
          <p:cNvSpPr txBox="1"/>
          <p:nvPr/>
        </p:nvSpPr>
        <p:spPr>
          <a:xfrm>
            <a:off x="4507992" y="41148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suspicious activity easier to review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counts, time range and representative evidence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per-IP request timeline for investigation</a:t>
            </a:r>
            <a:endParaRPr lang="en-US" sz="1400" dirty="0"/>
          </a:p>
        </p:txBody>
      </p:sp>
      <p:sp>
        <p:nvSpPr>
          <p:cNvPr id="72" name="Card WHAT IS DISTINCTIVE"/>
          <p:cNvSpPr/>
          <p:nvPr/>
        </p:nvSpPr>
        <p:spPr>
          <a:xfrm>
            <a:off x="8101584" y="329184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52"/>
          <p:cNvSpPr/>
          <p:nvPr/>
        </p:nvSpPr>
        <p:spPr>
          <a:xfrm>
            <a:off x="8284464" y="3456432"/>
            <a:ext cx="502920" cy="50292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5282" y="3597250"/>
            <a:ext cx="221285" cy="221285"/>
          </a:xfrm>
          <a:prstGeom prst="rect">
            <a:avLst/>
          </a:prstGeom>
        </p:spPr>
      </p:pic>
      <p:sp>
        <p:nvSpPr>
          <p:cNvPr id="75" name="Text 53"/>
          <p:cNvSpPr txBox="1"/>
          <p:nvPr/>
        </p:nvSpPr>
        <p:spPr>
          <a:xfrm>
            <a:off x="8924544" y="3456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DISTINCTIVE</a:t>
            </a:r>
            <a:endParaRPr lang="en-US" sz="1500" dirty="0"/>
          </a:p>
        </p:txBody>
      </p:sp>
      <p:sp>
        <p:nvSpPr>
          <p:cNvPr id="76" name="Text 54"/>
          <p:cNvSpPr txBox="1"/>
          <p:nvPr/>
        </p:nvSpPr>
        <p:spPr>
          <a:xfrm>
            <a:off x="8330184" y="411480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C++14 detector engine uses an extensible OOP design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without a database or external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compatibility analyzer keeps the app usable if the native engine cannot run</a:t>
            </a:r>
            <a:endParaRPr lang="en-US" sz="1400" dirty="0"/>
          </a:p>
        </p:txBody>
      </p:sp>
      <p:sp>
        <p:nvSpPr>
          <p:cNvPr id="77" name="Text 55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an evidence-based triage report. </a:t>
            </a: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indicates a pattern to investigate, not confirmed compromise.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validate upload, parse entries, group by IP, run detector strategies, return a JSON report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8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9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4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10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7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11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12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13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Browser dashboard"/>
          <p:cNvSpPr/>
          <p:nvPr/>
        </p:nvSpPr>
        <p:spPr>
          <a:xfrm>
            <a:off x="457200" y="22860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4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3699" y="2622499"/>
            <a:ext cx="241402" cy="241402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325880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dashboard</a:t>
            </a:r>
            <a:endParaRPr lang="en-US" sz="1700" dirty="0"/>
          </a:p>
        </p:txBody>
      </p:sp>
      <p:sp>
        <p:nvSpPr>
          <p:cNvPr id="43" name="Text 26"/>
          <p:cNvSpPr txBox="1"/>
          <p:nvPr/>
        </p:nvSpPr>
        <p:spPr>
          <a:xfrm>
            <a:off x="685800" y="31546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JavaScript. Upload a log, review findings and open per-IP timelines.</a:t>
            </a:r>
            <a:endParaRPr lang="en-US" sz="1300" dirty="0"/>
          </a:p>
        </p:txBody>
      </p:sp>
      <p:sp>
        <p:nvSpPr>
          <p:cNvPr id="44" name="Python local API"/>
          <p:cNvSpPr/>
          <p:nvPr/>
        </p:nvSpPr>
        <p:spPr>
          <a:xfrm>
            <a:off x="3611880" y="22860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28"/>
          <p:cNvSpPr/>
          <p:nvPr/>
        </p:nvSpPr>
        <p:spPr>
          <a:xfrm>
            <a:off x="3794760" y="2468880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48379" y="2622499"/>
            <a:ext cx="241402" cy="241402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4480560" y="24231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local API</a:t>
            </a:r>
            <a:endParaRPr lang="en-US" sz="1700" dirty="0"/>
          </a:p>
        </p:txBody>
      </p:sp>
      <p:sp>
        <p:nvSpPr>
          <p:cNvPr id="48" name="Text 30"/>
          <p:cNvSpPr txBox="1"/>
          <p:nvPr/>
        </p:nvSpPr>
        <p:spPr>
          <a:xfrm>
            <a:off x="3840480" y="31546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(backend/app.py). Validates the upload and selects the engine.</a:t>
            </a:r>
            <a:endParaRPr lang="en-US" sz="1300" dirty="0"/>
          </a:p>
        </p:txBody>
      </p:sp>
      <p:sp>
        <p:nvSpPr>
          <p:cNvPr id="49" name="C++14 analyzer"/>
          <p:cNvSpPr/>
          <p:nvPr/>
        </p:nvSpPr>
        <p:spPr>
          <a:xfrm>
            <a:off x="6766560" y="20116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2"/>
          <p:cNvSpPr/>
          <p:nvPr/>
        </p:nvSpPr>
        <p:spPr>
          <a:xfrm>
            <a:off x="6949440" y="2194560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3059" y="2348179"/>
            <a:ext cx="241402" cy="241402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763524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C++14 analyzer</a:t>
            </a:r>
            <a:endParaRPr lang="en-US" sz="1700" dirty="0"/>
          </a:p>
        </p:txBody>
      </p:sp>
      <p:sp>
        <p:nvSpPr>
          <p:cNvPr id="53" name="Text 34"/>
          <p:cNvSpPr txBox="1"/>
          <p:nvPr/>
        </p:nvSpPr>
        <p:spPr>
          <a:xfrm>
            <a:off x="699516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engine, standard library only.</a:t>
            </a:r>
            <a:endParaRPr lang="en-US" sz="1300" dirty="0"/>
          </a:p>
        </p:txBody>
      </p:sp>
      <p:sp>
        <p:nvSpPr>
          <p:cNvPr id="54" name="Python analyzer"/>
          <p:cNvSpPr/>
          <p:nvPr/>
        </p:nvSpPr>
        <p:spPr>
          <a:xfrm>
            <a:off x="6766560" y="36118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36"/>
          <p:cNvSpPr/>
          <p:nvPr/>
        </p:nvSpPr>
        <p:spPr>
          <a:xfrm>
            <a:off x="6949440" y="3794760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03059" y="3948379"/>
            <a:ext cx="241402" cy="241402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7635240" y="3749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analyzer</a:t>
            </a:r>
            <a:endParaRPr lang="en-US" sz="1700" dirty="0"/>
          </a:p>
        </p:txBody>
      </p:sp>
      <p:sp>
        <p:nvSpPr>
          <p:cNvPr id="58" name="Text 38"/>
          <p:cNvSpPr txBox="1"/>
          <p:nvPr/>
        </p:nvSpPr>
        <p:spPr>
          <a:xfrm>
            <a:off x="6995160" y="4480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fallback if the native engine cannot run.</a:t>
            </a:r>
            <a:endParaRPr lang="en-US" sz="1300" dirty="0"/>
          </a:p>
        </p:txBody>
      </p:sp>
      <p:sp>
        <p:nvSpPr>
          <p:cNvPr id="59" name="JSON report"/>
          <p:cNvSpPr/>
          <p:nvPr/>
        </p:nvSpPr>
        <p:spPr>
          <a:xfrm>
            <a:off x="9921240" y="228600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40"/>
          <p:cNvSpPr/>
          <p:nvPr/>
        </p:nvSpPr>
        <p:spPr>
          <a:xfrm>
            <a:off x="10104120" y="2468880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7739" y="2622499"/>
            <a:ext cx="241402" cy="241402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10789920" y="2423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report</a:t>
            </a:r>
            <a:endParaRPr lang="en-US" sz="1700" dirty="0"/>
          </a:p>
        </p:txBody>
      </p:sp>
      <p:sp>
        <p:nvSpPr>
          <p:cNvPr id="63" name="Text 42"/>
          <p:cNvSpPr txBox="1"/>
          <p:nvPr/>
        </p:nvSpPr>
        <p:spPr>
          <a:xfrm>
            <a:off x="10149840" y="31546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timelines</a:t>
            </a:r>
            <a:endParaRPr lang="en-US" sz="1300" dirty="0"/>
          </a:p>
        </p:txBody>
      </p:sp>
      <p:pic>
        <p:nvPicPr>
          <p:cNvPr id="64" name="Image 18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3291840"/>
            <a:ext cx="274320" cy="274320"/>
          </a:xfrm>
          <a:prstGeom prst="rect">
            <a:avLst/>
          </a:prstGeom>
        </p:spPr>
      </p:pic>
      <p:pic>
        <p:nvPicPr>
          <p:cNvPr id="65" name="Image 19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91840"/>
            <a:ext cx="274320" cy="274320"/>
          </a:xfrm>
          <a:prstGeom prst="rect">
            <a:avLst/>
          </a:prstGeom>
        </p:spPr>
      </p:pic>
      <p:pic>
        <p:nvPicPr>
          <p:cNvPr id="66" name="Image 20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560320"/>
            <a:ext cx="274320" cy="274320"/>
          </a:xfrm>
          <a:prstGeom prst="rect">
            <a:avLst/>
          </a:prstGeom>
        </p:spPr>
      </p:pic>
      <p:pic>
        <p:nvPicPr>
          <p:cNvPr id="67" name="Image 21" descr="th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3977640"/>
            <a:ext cx="274320" cy="274320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457200" y="5349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source stores parsed rows and status counts per IP, then serializes findings and timelines as JSON.</a:t>
            </a:r>
            <a:endParaRPr lang="en-US" sz="1400" dirty="0"/>
          </a:p>
        </p:txBody>
      </p:sp>
      <p:sp>
        <p:nvSpPr>
          <p:cNvPr id="69" name="See code button"/>
          <p:cNvSpPr/>
          <p:nvPr/>
        </p:nvSpPr>
        <p:spPr>
          <a:xfrm>
            <a:off x="8412480" y="534924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45"/>
          <p:cNvSpPr txBox="1"/>
          <p:nvPr/>
        </p:nvSpPr>
        <p:spPr>
          <a:xfrm>
            <a:off x="8412480" y="5349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core code</a:t>
            </a:r>
            <a:endParaRPr lang="en-US" sz="1600" dirty="0"/>
          </a:p>
        </p:txBody>
      </p:sp>
      <p:pic>
        <p:nvPicPr>
          <p:cNvPr id="71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55680" y="5568696"/>
            <a:ext cx="201168" cy="201168"/>
          </a:xfrm>
          <a:prstGeom prst="rect">
            <a:avLst/>
          </a:prstGeom>
        </p:spPr>
      </p:pic>
      <p:pic>
        <p:nvPicPr>
          <p:cNvPr id="72" name="Image 23" descr="Go to code slide">
            <a:hlinkClick r:id="rId7" action="ppaction://hlinksldjump" tooltip="Go to code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5349240"/>
            <a:ext cx="329184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detector engine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excerpts from cpp_engine/main.cpp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8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9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10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4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11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7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12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13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Code 01"/>
          <p:cNvSpPr/>
          <p:nvPr/>
        </p:nvSpPr>
        <p:spPr>
          <a:xfrm>
            <a:off x="457200" y="201168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06101C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4"/>
          <p:cNvSpPr txBox="1"/>
          <p:nvPr/>
        </p:nvSpPr>
        <p:spPr>
          <a:xfrm>
            <a:off x="68580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interface</a:t>
            </a:r>
            <a:endParaRPr lang="en-US" sz="1400" dirty="0"/>
          </a:p>
        </p:txBody>
      </p:sp>
      <p:sp>
        <p:nvSpPr>
          <p:cNvPr id="41" name="Text 25"/>
          <p:cNvSpPr txBox="1"/>
          <p:nvPr/>
        </p:nvSpPr>
        <p:spPr>
          <a:xfrm>
            <a:off x="685800" y="2560320"/>
            <a:ext cx="50292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AttackDetector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~AttackDetector() {}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std::vector&lt;Finding&gt; analyze(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std::unordered_map&lt;std::string,IPStats&gt;&amp;,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int, int, double) const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Concrete detectors implement analyze().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AnomalyEngine runs them through this interface.</a:t>
            </a:r>
            <a:endParaRPr lang="en-US" sz="12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833872"/>
            <a:ext cx="201168" cy="201168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77724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detectors plug in through one interface</a:t>
            </a:r>
            <a:endParaRPr lang="en-US" sz="1300" dirty="0"/>
          </a:p>
        </p:txBody>
      </p:sp>
      <p:sp>
        <p:nvSpPr>
          <p:cNvPr id="44" name="Code 02"/>
          <p:cNvSpPr/>
          <p:nvPr/>
        </p:nvSpPr>
        <p:spPr>
          <a:xfrm>
            <a:off x="6035040" y="2011680"/>
            <a:ext cx="5669280" cy="3611880"/>
          </a:xfrm>
          <a:prstGeom prst="roundRect">
            <a:avLst>
              <a:gd name="adj" fmla="val 3038"/>
            </a:avLst>
          </a:prstGeom>
          <a:solidFill>
            <a:srgbClr val="06101C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8"/>
          <p:cNvSpPr txBox="1"/>
          <p:nvPr/>
        </p:nvSpPr>
        <p:spPr>
          <a:xfrm>
            <a:off x="626364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window for HTTP 401</a:t>
            </a:r>
            <a:endParaRPr lang="en-US" sz="1400" dirty="0"/>
          </a:p>
        </p:txBody>
      </p:sp>
      <p:sp>
        <p:nvSpPr>
          <p:cNvPr id="46" name="Text 29"/>
          <p:cNvSpPr txBox="1"/>
          <p:nvPr/>
        </p:nvSpPr>
        <p:spPr>
          <a:xfrm>
            <a:off x="6263640" y="2560320"/>
            <a:ext cx="5303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 l = 0, bestL = 0, bestR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(size_t r = 0; r &lt; v.size(); r++)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(v[r]-&gt;epoch - v[l]-&gt;epoch &gt; window) ++l;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 - l + 1 &gt; bestR - bestL)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bestL = 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bestR = r + 1;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(int)(bestR - bestL);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&gt;= threshold)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Finding f;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f.ip = p.first;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f.type = "Brute Force Activity";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f.count = 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out.push_back(f);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5040" y="5833872"/>
            <a:ext cx="201168" cy="201168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6355080" y="5760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finds the densest burst of 401s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and demonstrable with the current project stack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8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9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10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11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4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12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7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13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Feasible card"/>
          <p:cNvSpPr/>
          <p:nvPr/>
        </p:nvSpPr>
        <p:spPr>
          <a:xfrm>
            <a:off x="457200" y="201168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4"/>
          <p:cNvSpPr txBox="1"/>
          <p:nvPr/>
        </p:nvSpPr>
        <p:spPr>
          <a:xfrm>
            <a:off x="73152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 CURRENT STACK</a:t>
            </a:r>
            <a:endParaRPr lang="en-US" sz="1500" dirty="0"/>
          </a:p>
        </p:txBody>
      </p:sp>
      <p:pic>
        <p:nvPicPr>
          <p:cNvPr id="41" name="Image 13" descr="che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2834640"/>
            <a:ext cx="274320" cy="27432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18872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Python HTTP server and browser UI</a:t>
            </a:r>
            <a:endParaRPr lang="en-US" sz="1400" dirty="0"/>
          </a:p>
        </p:txBody>
      </p:sp>
      <p:pic>
        <p:nvPicPr>
          <p:cNvPr id="43" name="Image 14" descr="che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3493008"/>
            <a:ext cx="274320" cy="274320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1188720" y="34015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C++14 engine built with standard-library components</a:t>
            </a:r>
            <a:endParaRPr lang="en-US" sz="1400" dirty="0"/>
          </a:p>
        </p:txBody>
      </p:sp>
      <p:pic>
        <p:nvPicPr>
          <p:cNvPr id="45" name="Image 15" descr="che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4151376"/>
            <a:ext cx="274320" cy="274320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1188720" y="40599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logs and API support make demos repeatable</a:t>
            </a:r>
            <a:endParaRPr lang="en-US" sz="1400" dirty="0"/>
          </a:p>
        </p:txBody>
      </p:sp>
      <p:pic>
        <p:nvPicPr>
          <p:cNvPr id="47" name="Image 16" descr="che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" y="4809744"/>
            <a:ext cx="274320" cy="27432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1188720" y="47183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analyzer is the compatibility fallback</a:t>
            </a:r>
            <a:endParaRPr lang="en-US" sz="1400" dirty="0"/>
          </a:p>
        </p:txBody>
      </p:sp>
      <p:sp>
        <p:nvSpPr>
          <p:cNvPr id="49" name="Text 29"/>
          <p:cNvSpPr txBox="1"/>
          <p:nvPr/>
        </p:nvSpPr>
        <p:spPr>
          <a:xfrm>
            <a:off x="562356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RESPONSES</a:t>
            </a:r>
            <a:endParaRPr lang="en-US" sz="1500" dirty="0"/>
          </a:p>
        </p:txBody>
      </p:sp>
      <p:sp>
        <p:nvSpPr>
          <p:cNvPr id="50" name="Risk 1"/>
          <p:cNvSpPr/>
          <p:nvPr/>
        </p:nvSpPr>
        <p:spPr>
          <a:xfrm>
            <a:off x="5623560" y="2468880"/>
            <a:ext cx="6080760" cy="896112"/>
          </a:xfrm>
          <a:prstGeom prst="roundRect">
            <a:avLst>
              <a:gd name="adj" fmla="val 12245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7" descr="ris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2160" y="2596896"/>
            <a:ext cx="237744" cy="237744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6217920" y="25420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format variation</a:t>
            </a:r>
            <a:endParaRPr lang="en-US" sz="1400" dirty="0"/>
          </a:p>
        </p:txBody>
      </p:sp>
      <p:sp>
        <p:nvSpPr>
          <p:cNvPr id="53" name="Text 32"/>
          <p:cNvSpPr txBox="1"/>
          <p:nvPr/>
        </p:nvSpPr>
        <p:spPr>
          <a:xfrm>
            <a:off x="6217920" y="29260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documented common/combined shape; count skipped lines.</a:t>
            </a:r>
            <a:endParaRPr lang="en-US" sz="1400" dirty="0"/>
          </a:p>
        </p:txBody>
      </p:sp>
      <p:sp>
        <p:nvSpPr>
          <p:cNvPr id="54" name="Risk 2"/>
          <p:cNvSpPr/>
          <p:nvPr/>
        </p:nvSpPr>
        <p:spPr>
          <a:xfrm>
            <a:off x="5623560" y="3474720"/>
            <a:ext cx="6080760" cy="896112"/>
          </a:xfrm>
          <a:prstGeom prst="roundRect">
            <a:avLst>
              <a:gd name="adj" fmla="val 12245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8" descr="ris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2160" y="3602736"/>
            <a:ext cx="237744" cy="237744"/>
          </a:xfrm>
          <a:prstGeom prst="rect">
            <a:avLst/>
          </a:prstGeom>
        </p:spPr>
      </p:pic>
      <p:sp>
        <p:nvSpPr>
          <p:cNvPr id="56" name="Text 34"/>
          <p:cNvSpPr txBox="1"/>
          <p:nvPr/>
        </p:nvSpPr>
        <p:spPr>
          <a:xfrm>
            <a:off x="6217920" y="35478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false positives</a:t>
            </a:r>
            <a:endParaRPr lang="en-US" sz="1400" dirty="0"/>
          </a:p>
        </p:txBody>
      </p:sp>
      <p:sp>
        <p:nvSpPr>
          <p:cNvPr id="57" name="Text 35"/>
          <p:cNvSpPr txBox="1"/>
          <p:nvPr/>
        </p:nvSpPr>
        <p:spPr>
          <a:xfrm>
            <a:off x="6217920" y="3931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matched evidence and describe findings as indicators.</a:t>
            </a:r>
            <a:endParaRPr lang="en-US" sz="1400" dirty="0"/>
          </a:p>
        </p:txBody>
      </p:sp>
      <p:sp>
        <p:nvSpPr>
          <p:cNvPr id="58" name="Risk 3"/>
          <p:cNvSpPr/>
          <p:nvPr/>
        </p:nvSpPr>
        <p:spPr>
          <a:xfrm>
            <a:off x="5623560" y="4480560"/>
            <a:ext cx="6080760" cy="896112"/>
          </a:xfrm>
          <a:prstGeom prst="roundRect">
            <a:avLst>
              <a:gd name="adj" fmla="val 12245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9" descr="ris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2160" y="4608576"/>
            <a:ext cx="237744" cy="237744"/>
          </a:xfrm>
          <a:prstGeom prst="rect">
            <a:avLst/>
          </a:prstGeom>
        </p:spPr>
      </p:pic>
      <p:sp>
        <p:nvSpPr>
          <p:cNvPr id="60" name="Text 37"/>
          <p:cNvSpPr txBox="1"/>
          <p:nvPr/>
        </p:nvSpPr>
        <p:spPr>
          <a:xfrm>
            <a:off x="6217920" y="4553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binary may not run on every host</a:t>
            </a:r>
            <a:endParaRPr lang="en-US" sz="1400" dirty="0"/>
          </a:p>
        </p:txBody>
      </p:sp>
      <p:sp>
        <p:nvSpPr>
          <p:cNvPr id="61" name="Text 38"/>
          <p:cNvSpPr txBox="1"/>
          <p:nvPr/>
        </p:nvSpPr>
        <p:spPr>
          <a:xfrm>
            <a:off x="6217920" y="4937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Python fallback.</a:t>
            </a:r>
            <a:endParaRPr lang="en-US" sz="1400" dirty="0"/>
          </a:p>
        </p:txBody>
      </p:sp>
      <p:sp>
        <p:nvSpPr>
          <p:cNvPr id="62" name="Scope limit"/>
          <p:cNvSpPr/>
          <p:nvPr/>
        </p:nvSpPr>
        <p:spPr>
          <a:xfrm>
            <a:off x="457200" y="5623560"/>
            <a:ext cx="11247120" cy="566928"/>
          </a:xfrm>
          <a:prstGeom prst="roundRect">
            <a:avLst>
              <a:gd name="adj" fmla="val 19355"/>
            </a:avLst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20" descr="inf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788152"/>
            <a:ext cx="237744" cy="237744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1097280" y="56235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scope limit: 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access logs do not contain destination-port data, so port-scan detection is unsupported.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first-pass review, with evidence attached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8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9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10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11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12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4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13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7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Audience"/>
          <p:cNvSpPr/>
          <p:nvPr/>
        </p:nvSpPr>
        <p:spPr>
          <a:xfrm>
            <a:off x="457200" y="201168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4"/>
          <p:cNvSpPr/>
          <p:nvPr/>
        </p:nvSpPr>
        <p:spPr>
          <a:xfrm>
            <a:off x="685800" y="2167128"/>
            <a:ext cx="548640" cy="54864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419" y="2320747"/>
            <a:ext cx="241402" cy="241402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463040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  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 and small-team administrators reviewing web-server access logs.</a:t>
            </a:r>
            <a:endParaRPr lang="en-US" sz="1400" dirty="0"/>
          </a:p>
        </p:txBody>
      </p:sp>
      <p:sp>
        <p:nvSpPr>
          <p:cNvPr id="43" name="Benefit 1"/>
          <p:cNvSpPr/>
          <p:nvPr/>
        </p:nvSpPr>
        <p:spPr>
          <a:xfrm>
            <a:off x="457200" y="31089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7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5022" y="3516782"/>
            <a:ext cx="281635" cy="281635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14630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first-pass review</a:t>
            </a:r>
            <a:endParaRPr lang="en-US" sz="1800" dirty="0"/>
          </a:p>
        </p:txBody>
      </p:sp>
      <p:sp>
        <p:nvSpPr>
          <p:cNvPr id="47" name="Text 29"/>
          <p:cNvSpPr txBox="1"/>
          <p:nvPr/>
        </p:nvSpPr>
        <p:spPr>
          <a:xfrm>
            <a:off x="685800" y="4114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scanning raw lines manually</a:t>
            </a:r>
            <a:endParaRPr lang="en-US" sz="1400" dirty="0"/>
          </a:p>
        </p:txBody>
      </p:sp>
      <p:sp>
        <p:nvSpPr>
          <p:cNvPr id="48" name="Benefit 2"/>
          <p:cNvSpPr/>
          <p:nvPr/>
        </p:nvSpPr>
        <p:spPr>
          <a:xfrm>
            <a:off x="4279392" y="31089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1"/>
          <p:cNvSpPr/>
          <p:nvPr/>
        </p:nvSpPr>
        <p:spPr>
          <a:xfrm>
            <a:off x="4507992" y="3337560"/>
            <a:ext cx="640080" cy="64008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87214" y="3516782"/>
            <a:ext cx="281635" cy="281635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5285232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in every finding</a:t>
            </a:r>
            <a:endParaRPr lang="en-US" sz="1800" dirty="0"/>
          </a:p>
        </p:txBody>
      </p:sp>
      <p:sp>
        <p:nvSpPr>
          <p:cNvPr id="52" name="Text 33"/>
          <p:cNvSpPr txBox="1"/>
          <p:nvPr/>
        </p:nvSpPr>
        <p:spPr>
          <a:xfrm>
            <a:off x="4507992" y="4114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timestamps and representative request evidence</a:t>
            </a:r>
            <a:endParaRPr lang="en-US" sz="1400" dirty="0"/>
          </a:p>
        </p:txBody>
      </p:sp>
      <p:sp>
        <p:nvSpPr>
          <p:cNvPr id="53" name="Benefit 3"/>
          <p:cNvSpPr/>
          <p:nvPr/>
        </p:nvSpPr>
        <p:spPr>
          <a:xfrm>
            <a:off x="8101584" y="310896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35"/>
          <p:cNvSpPr/>
          <p:nvPr/>
        </p:nvSpPr>
        <p:spPr>
          <a:xfrm>
            <a:off x="8330184" y="3337560"/>
            <a:ext cx="640080" cy="64008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9406" y="3516782"/>
            <a:ext cx="281635" cy="281635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9107424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stay local</a:t>
            </a:r>
            <a:endParaRPr lang="en-US" sz="1800" dirty="0"/>
          </a:p>
        </p:txBody>
      </p:sp>
      <p:sp>
        <p:nvSpPr>
          <p:cNvPr id="57" name="Text 37"/>
          <p:cNvSpPr txBox="1"/>
          <p:nvPr/>
        </p:nvSpPr>
        <p:spPr>
          <a:xfrm>
            <a:off x="8330184" y="4114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 keeps uploaded logs on the machine running the app</a:t>
            </a:r>
            <a:endParaRPr lang="en-US" sz="1400" dirty="0"/>
          </a:p>
        </p:txBody>
      </p:sp>
      <p:sp>
        <p:nvSpPr>
          <p:cNvPr id="58" name="Faculty focus"/>
          <p:cNvSpPr/>
          <p:nvPr/>
        </p:nvSpPr>
        <p:spPr>
          <a:xfrm>
            <a:off x="457200" y="521208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39"/>
          <p:cNvSpPr txBox="1"/>
          <p:nvPr/>
        </p:nvSpPr>
        <p:spPr>
          <a:xfrm>
            <a:off x="685800" y="52120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REVIEW FOCUS
</a:t>
            </a:r>
            <a:r>
              <a:rPr lang="en-US" sz="1400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detection thresholds, log-format coverage and false-positive handling with additional test logs.</a:t>
            </a:r>
            <a:endParaRPr lang="en-US" sz="1300" dirty="0"/>
          </a:p>
        </p:txBody>
      </p:sp>
      <p:sp>
        <p:nvSpPr>
          <p:cNvPr id="60" name="Honesty note"/>
          <p:cNvSpPr/>
          <p:nvPr/>
        </p:nvSpPr>
        <p:spPr>
          <a:xfrm>
            <a:off x="7269480" y="5212080"/>
            <a:ext cx="4434840" cy="1005840"/>
          </a:xfrm>
          <a:prstGeom prst="roundRect">
            <a:avLst>
              <a:gd name="adj" fmla="val 10909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1"/>
          <p:cNvSpPr txBox="1"/>
          <p:nvPr/>
        </p:nvSpPr>
        <p:spPr>
          <a:xfrm>
            <a:off x="7452360" y="5212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time savings or detection accuracy is claimed. Findings support investigation; they do not establish compromise.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"/>
          <p:cNvSpPr/>
          <p:nvPr/>
        </p:nvSpPr>
        <p:spPr>
          <a:xfrm>
            <a:off x="457200" y="2468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468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LogScope</a:t>
            </a:r>
            <a:endParaRPr lang="en-US" sz="1400" dirty="0"/>
          </a:p>
        </p:txBody>
      </p:sp>
      <p:sp>
        <p:nvSpPr>
          <p:cNvPr id="4" name="Tab Overview"/>
          <p:cNvSpPr/>
          <p:nvPr/>
        </p:nvSpPr>
        <p:spPr>
          <a:xfrm>
            <a:off x="201168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ab Solution"/>
          <p:cNvSpPr/>
          <p:nvPr/>
        </p:nvSpPr>
        <p:spPr>
          <a:xfrm>
            <a:off x="316382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16382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ab Architecture"/>
          <p:cNvSpPr/>
          <p:nvPr/>
        </p:nvSpPr>
        <p:spPr>
          <a:xfrm>
            <a:off x="4315968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15968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ab Code"/>
          <p:cNvSpPr/>
          <p:nvPr/>
        </p:nvSpPr>
        <p:spPr>
          <a:xfrm>
            <a:off x="5468112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68112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2" name="Tab Feasibility"/>
          <p:cNvSpPr/>
          <p:nvPr/>
        </p:nvSpPr>
        <p:spPr>
          <a:xfrm>
            <a:off x="6620256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4" name="Tab Impact"/>
          <p:cNvSpPr/>
          <p:nvPr/>
        </p:nvSpPr>
        <p:spPr>
          <a:xfrm>
            <a:off x="7772400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0A1020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0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ab Sources"/>
          <p:cNvSpPr/>
          <p:nvPr/>
        </p:nvSpPr>
        <p:spPr>
          <a:xfrm>
            <a:off x="8924544" y="246888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924544" y="246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1481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 and 11 external references; click any link to open it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 ·  LogScope  ·  Faculty review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78992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6473952"/>
            <a:ext cx="128016" cy="128016"/>
          </a:xfrm>
          <a:prstGeom prst="rect">
            <a:avLst/>
          </a:prstGeom>
        </p:spPr>
      </p:pic>
      <p:pic>
        <p:nvPicPr>
          <p:cNvPr id="26" name="Image 2" descr="Previous slide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35508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292840" y="6355080"/>
            <a:ext cx="365760" cy="365760"/>
          </a:xfrm>
          <a:prstGeom prst="ellipse">
            <a:avLst/>
          </a:prstGeom>
          <a:solidFill>
            <a:srgbClr val="1B2742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6473952"/>
            <a:ext cx="128016" cy="128016"/>
          </a:xfrm>
          <a:prstGeom prst="rect">
            <a:avLst/>
          </a:prstGeom>
        </p:spPr>
      </p:pic>
      <p:pic>
        <p:nvPicPr>
          <p:cNvPr id="29" name="Image 4" descr="Next slide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6355080"/>
            <a:ext cx="365760" cy="365760"/>
          </a:xfrm>
          <a:prstGeom prst="rect">
            <a:avLst/>
          </a:prstGeom>
        </p:spPr>
      </p:pic>
      <p:pic>
        <p:nvPicPr>
          <p:cNvPr id="30" name="Image 5" descr="Back to title">
            <a:hlinkClick r:id="rId8" action="ppaction://hlinksldjump" tooltip="Back to titl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6888"/>
            <a:ext cx="1371600" cy="420624"/>
          </a:xfrm>
          <a:prstGeom prst="rect">
            <a:avLst/>
          </a:prstGeom>
        </p:spPr>
      </p:pic>
      <p:pic>
        <p:nvPicPr>
          <p:cNvPr id="31" name="Image 6" descr="Go to Overview">
            <a:hlinkClick r:id="rId9" action="ppaction://hlinksldjump" tooltip="Go to Overview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46888"/>
            <a:ext cx="1097280" cy="420624"/>
          </a:xfrm>
          <a:prstGeom prst="rect">
            <a:avLst/>
          </a:prstGeom>
        </p:spPr>
      </p:pic>
      <p:pic>
        <p:nvPicPr>
          <p:cNvPr id="32" name="Image 7" descr="Go to Solution">
            <a:hlinkClick r:id="rId10" action="ppaction://hlinksldjump" tooltip="Go to Solu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824" y="246888"/>
            <a:ext cx="1097280" cy="420624"/>
          </a:xfrm>
          <a:prstGeom prst="rect">
            <a:avLst/>
          </a:prstGeom>
        </p:spPr>
      </p:pic>
      <p:pic>
        <p:nvPicPr>
          <p:cNvPr id="33" name="Image 8" descr="Go to Architecture">
            <a:hlinkClick r:id="rId11" action="ppaction://hlinksldjump" tooltip="Go to Architectur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"/>
            <a:ext cx="1097280" cy="420624"/>
          </a:xfrm>
          <a:prstGeom prst="rect">
            <a:avLst/>
          </a:prstGeom>
        </p:spPr>
      </p:pic>
      <p:pic>
        <p:nvPicPr>
          <p:cNvPr id="34" name="Image 9" descr="Go to Code">
            <a:hlinkClick r:id="rId12" action="ppaction://hlinksldjump" tooltip="Go to Co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46888"/>
            <a:ext cx="1097280" cy="420624"/>
          </a:xfrm>
          <a:prstGeom prst="rect">
            <a:avLst/>
          </a:prstGeom>
        </p:spPr>
      </p:pic>
      <p:pic>
        <p:nvPicPr>
          <p:cNvPr id="35" name="Image 10" descr="Go to Feasibility">
            <a:hlinkClick r:id="rId13" action="ppaction://hlinksldjump" tooltip="Go to Feasibility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6888"/>
            <a:ext cx="1097280" cy="420624"/>
          </a:xfrm>
          <a:prstGeom prst="rect">
            <a:avLst/>
          </a:prstGeom>
        </p:spPr>
      </p:pic>
      <p:pic>
        <p:nvPicPr>
          <p:cNvPr id="36" name="Image 11" descr="Go to Impact">
            <a:hlinkClick r:id="rId4" action="ppaction://hlinksldjump" tooltip="Go to Impac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46888"/>
            <a:ext cx="1097280" cy="420624"/>
          </a:xfrm>
          <a:prstGeom prst="rect">
            <a:avLst/>
          </a:prstGeom>
        </p:spPr>
      </p:pic>
      <p:pic>
        <p:nvPicPr>
          <p:cNvPr id="37" name="Image 12" descr="Go to Sources">
            <a:hlinkClick r:id="rId7" action="ppaction://hlinksldjump" tooltip="Go to Sourc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6888"/>
            <a:ext cx="1097280" cy="420624"/>
          </a:xfrm>
          <a:prstGeom prst="rect">
            <a:avLst/>
          </a:prstGeom>
        </p:spPr>
      </p:pic>
      <p:sp>
        <p:nvSpPr>
          <p:cNvPr id="39" name="Sources PROJECT SOURCES"/>
          <p:cNvSpPr/>
          <p:nvPr/>
        </p:nvSpPr>
        <p:spPr>
          <a:xfrm>
            <a:off x="457200" y="1965960"/>
            <a:ext cx="2743200" cy="4023360"/>
          </a:xfrm>
          <a:prstGeom prst="roundRect">
            <a:avLst>
              <a:gd name="adj" fmla="val 4000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4"/>
          <p:cNvSpPr/>
          <p:nvPr/>
        </p:nvSpPr>
        <p:spPr>
          <a:xfrm>
            <a:off x="640080" y="2084832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096" y="2212848"/>
            <a:ext cx="201168" cy="201168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234440" y="20848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SOURCES</a:t>
            </a:r>
            <a:endParaRPr lang="en-US" sz="1400" dirty="0"/>
          </a:p>
        </p:txBody>
      </p:sp>
      <p:sp>
        <p:nvSpPr>
          <p:cNvPr id="43" name="Text 26"/>
          <p:cNvSpPr txBox="1"/>
          <p:nvPr/>
        </p:nvSpPr>
        <p:spPr>
          <a:xfrm>
            <a:off x="685800" y="269748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cpp_engine/main.cpp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parser, detector classes and JSON report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backend/app.py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upload/API service and engine selection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backend/analyzer.py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compatibility analyzer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dashboard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sample_logs/investigation.log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input</a:t>
            </a:r>
            <a:endParaRPr lang="en-US" sz="1250" dirty="0"/>
          </a:p>
        </p:txBody>
      </p:sp>
      <p:sp>
        <p:nvSpPr>
          <p:cNvPr id="44" name="Sources FORMATS, HTTP AND TOOLING"/>
          <p:cNvSpPr/>
          <p:nvPr/>
        </p:nvSpPr>
        <p:spPr>
          <a:xfrm>
            <a:off x="3383280" y="196596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28"/>
          <p:cNvSpPr/>
          <p:nvPr/>
        </p:nvSpPr>
        <p:spPr>
          <a:xfrm>
            <a:off x="3566160" y="2084832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4176" y="2212848"/>
            <a:ext cx="201168" cy="201168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416052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FORMATS, HTTP AND TOOLING</a:t>
            </a:r>
            <a:endParaRPr lang="en-US" sz="1400" dirty="0"/>
          </a:p>
        </p:txBody>
      </p:sp>
      <p:sp>
        <p:nvSpPr>
          <p:cNvPr id="48" name="Text 30"/>
          <p:cNvSpPr txBox="1"/>
          <p:nvPr/>
        </p:nvSpPr>
        <p:spPr>
          <a:xfrm>
            <a:off x="3611880" y="2697480"/>
            <a:ext cx="3383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Server: Log Files (Common / Combined)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tooltip="https://httpd.apache.org/docs/current/log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httpd.apache.org/docs/current/logs.html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 ngx_http_log_module, access_log formats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tooltip="https://nginx.org/en/docs/http/ngx_http_log_modul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nginx.org/en/docs/http/ngx_http_log_module.html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9110: HTTP Semantics (401, 403, 404)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tooltip="https://www.rfc-editor.org/rfc/rfc911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www.rfc-editor.org/rfc/rfc9110.html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C++14 language and standard library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tooltip="https://en.cppreference.com/w/cpp/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en.cppreference.com/w/cpp/14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http.server (standard library)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tooltip="https://docs.python.org/3/library/http.server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docs.python.org/3/library/http.server.html</a:t>
            </a:r>
            <a:endParaRPr lang="en-US" sz="1250" dirty="0"/>
          </a:p>
        </p:txBody>
      </p:sp>
      <p:sp>
        <p:nvSpPr>
          <p:cNvPr id="49" name="Sources SECURITY REFERENCES"/>
          <p:cNvSpPr/>
          <p:nvPr/>
        </p:nvSpPr>
        <p:spPr>
          <a:xfrm>
            <a:off x="7269480" y="1965960"/>
            <a:ext cx="4434840" cy="4023360"/>
          </a:xfrm>
          <a:prstGeom prst="roundRect">
            <a:avLst>
              <a:gd name="adj" fmla="val 2727"/>
            </a:avLst>
          </a:prstGeom>
          <a:solidFill>
            <a:srgbClr val="131D33"/>
          </a:solidFill>
          <a:ln w="9525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2"/>
          <p:cNvSpPr/>
          <p:nvPr/>
        </p:nvSpPr>
        <p:spPr>
          <a:xfrm>
            <a:off x="7452360" y="2084832"/>
            <a:ext cx="457200" cy="457200"/>
          </a:xfrm>
          <a:prstGeom prst="ellipse">
            <a:avLst/>
          </a:prstGeom>
          <a:solidFill>
            <a:srgbClr val="1B2742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0376" y="2212848"/>
            <a:ext cx="201168" cy="201168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046720" y="20848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REFERENCES</a:t>
            </a:r>
            <a:endParaRPr lang="en-US" sz="1400" dirty="0"/>
          </a:p>
        </p:txBody>
      </p:sp>
      <p:sp>
        <p:nvSpPr>
          <p:cNvPr id="53" name="Text 34"/>
          <p:cNvSpPr txBox="1"/>
          <p:nvPr/>
        </p:nvSpPr>
        <p:spPr>
          <a:xfrm>
            <a:off x="7498080" y="2697480"/>
            <a:ext cx="4069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A09: Logging and Monitoring Failures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tooltip="https://top10.owasp.org/A09_2021-Security_Logging_and_Monitoring_Failur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top10.owasp.org/A09_2021-Security_Logging_and_Monitoring_Failures/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Logging Cheat Sheet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tooltip="https://cheatsheetseries.owasp.org/cheatsheets/Logging_Cheat_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cheatsheetseries.owasp.org/cheatsheets/Logging_Cheat_Sheet.html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800-92: Guide to Log Management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tooltip="https://csrc.nist.gov/pubs/sp/800/92/fi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csrc.nist.gov/pubs/sp/800/92/final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T1110: Brute Force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tooltip="https://attack.mitre.org/techniques/T111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attack.mitre.org/techniques/T1110/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CWE-89: SQL Injection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tooltip="https://cwe.mitre.org/data/definitions/8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cwe.mitre.org/data/definitions/89.html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CWE-22: Path Traversal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tooltip="https://cwe.mitre.org/data/definitions/22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cwe.mitre.org/data/definitions/22.html</a:t>
            </a:r>
            <a:endParaRPr lang="en-US" sz="1250" dirty="0"/>
          </a:p>
        </p:txBody>
      </p:sp>
      <p:sp>
        <p:nvSpPr>
          <p:cNvPr id="54" name="Text 35"/>
          <p:cNvSpPr txBox="1"/>
          <p:nvPr/>
        </p:nvSpPr>
        <p:spPr>
          <a:xfrm>
            <a:off x="457200" y="60533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scope: common/combined access-log entries. Pattern matches are heuristic indicators.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1711</Words>
  <Application>Microsoft Office PowerPoint</Application>
  <PresentationFormat>Widescreen</PresentationFormat>
  <Paragraphs>261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LogScope – Faculty Presentation</dc:title>
  <dc:subject>PptxGenJS Presentation</dc:subject>
  <dc:creator>LogScope team</dc:creator>
  <cp:lastModifiedBy>Declan Po</cp:lastModifiedBy>
  <cp:revision>5</cp:revision>
  <dcterms:created xsi:type="dcterms:W3CDTF">2026-10-15T15:32:15Z</dcterms:created>
  <dcterms:modified xsi:type="dcterms:W3CDTF">2026-10-15T15:48:53Z</dcterms:modified>
</cp:coreProperties>
</file>